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6c0ac1dd-07ef-cabc-156a-a73a9d3a8f01}">
          <p14:sldIdLst>
            <p14:sldId id="256"/>
          </p14:sldIdLst>
        </p14:section>
        <p14:section name="Problema e técnicas" id="{887bb75f-ba8b-e8f0-6f2d-de684fe85066}">
          <p14:sldIdLst>
            <p14:sldId id="257"/>
            <p14:sldId id="258"/>
          </p14:sldIdLst>
        </p14:section>
        <p14:section name="Aplicação" id="{ed340cfb-e25a-377e-fbe8-aa8c2ae38e1c}">
          <p14:sldIdLst>
            <p14:sldId id="259"/>
            <p14:sldId id="260"/>
          </p14:sldIdLst>
        </p14:section>
        <p14:section name="Resultados" id="{5ce0dd95-722d-5fe9-80f9-3761e4edb072}">
          <p14:sldIdLst>
            <p14:sldId id="261"/>
          </p14:sldIdLst>
        </p14:section>
        <p14:section name="Discussão" id="{d52453f3-6936-ebbd-cee6-8e5a3ac4c2e8}">
          <p14:sldIdLst>
            <p14:sldId id="262"/>
          </p14:sldIdLst>
        </p14:section>
        <p14:section name="Conclusão" id="{2e0dab38-9e00-4096-cf80-d0525913fe8c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P13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4B8A6"/>
              </a:solidFill>
              <a:effectLst/>
            </c:spPr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Sem overflow</c:v>
                </c:pt>
                <c:pt idx="1">
                  <c:v>ArithmeticException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3409</c:v>
                </c:pt>
                <c:pt idx="1">
                  <c:v>539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Eduardo (0:30). Nosso trabalho aplica duas técnicas de teste a um mesmo problema, uma classe de frações em Java, e compara o que cada uma encontra. A pergunta é: o que um oráculo genérico enxerga que propriedades do domínio não enxergam, e o contrário?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Eduardo (0:50). A Fraction é imutável e sempre normalizada. Tem aritmética exata e sinaliza overflow com exceção. Escolhemos esse kata porque tem invariantes fortes, uma álgebra conhecida e um risco numérico claro. Decisão de projeto: argumento nulo lança NullPointerException, compatível com o contrato do Randoop.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Eduardo (0:50). Em 1997, Fink e Bishop propõem testar a partir de propriedades formais, com oráculo gerado da especificação. Em 2007, Pacheco e colegas propõem gerar testes de forma aleatória guiada por feedback, com contratos genéricos como oráculo. Os dois usam a especificação como oráculo, com ênfases diferentes: Fink e Bishop concentram o esforço na análise do programa e deixam a escolha dos dados ao testador; Pacheco e colegas concentram o esforço na geração automática de entradas. Um não substitui o outro. O jqwik não implementa a técnica de Fink e Bishop, mas usa a mesma ideia de propriedade como especificação. Como contraste, 15 testes de exemplo.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Lucas (1:00). O Randoop já verifica contratos como equals reflexivo e hashCode consistente. Nós registramos quatro contratos do domínio em JSON: denominador positivo, irredutibilidade, compareTo coerente com equals e ida e volta de parse. Também demos valores variados ao gerador. Aprendemos que um oráculo precisa ser validado: nossa primeira versão do contrato de ida e volta lançava exceção e fez o Randoop abortar.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Lucas (1:00). Escrevemos 14 propriedades: normalização, comutatividade, associatividade, inversos, distributividade, ordem total, divisão e exceções. As algébricas usam faixa pequena para não misturar com overflow. O overflow tem propriedades próprias, com a faixa completa de long e BigInteger como referência: o resultado é exato ou ArithmeticException. No P13, 86% das operações não estouraram e 14% lançaram exceção, e nenhuma devolveu valor errado.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Fernando (1:10). No código correto tudo passou: 1.500 testes e nenhuma violação. Depois injetamos cinco defeitos. O defeito de overflow, M4, só foi detectado por exemplo e pelo jqwik; o Randoop não achou em nenhuma das quatro sementes, porque nenhum contrato fala de aritmética. O defeito no compareTo mostra o contrário: as propriedades de faixa pequena não viram, e só a de faixa larga viu. O M5, hashCode só do numerador, ninguém detecta: ele preserva o contrato de igualdade e hashCode, então não é um defeito escapando.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Fernando (0:40). O Randoop custou quatro entradas JSON; as propriedades custaram geradores, faixas e um oráculo exato. O filtro de exceções do artigo trata exceção como entrada inválida, mas em Fraction divisão por zero e overflow são comportamento especificado; por isso o Randoop explora pouco essa região e só as propriedades confirmam a exceção exigida. Ameaças: defeitos injetados à mão, poucos, uma só classe, poucas sementes.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Fernando (0:30). Um: as técnicas se complementam. Dois: as entradas importam tanto quanto o oráculo. Três: valide o oráculo com defeitos injetados, senão um contrato inócuo passa despercebido. O repositório tem tudo, com README, tests.md e CI. Obrigado.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T1 · Verificação e Validação · PUCRS 2026/I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51560"/>
            <a:ext cx="493776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ótulo"/>
          <p:cNvSpPr txBox="1"/>
          <p:nvPr/>
        </p:nvSpPr>
        <p:spPr>
          <a:xfrm>
            <a:off x="548640" y="548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</a:rPr>
              <a:t>TRABALHO T1 · VERIFICAÇÃO E VALIDAÇÃO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05156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Verificação de uma classe de frações</a:t>
            </a:r>
            <a:endParaRPr lang="en-US" sz="3600" dirty="0"/>
          </a:p>
        </p:txBody>
      </p:sp>
      <p:sp>
        <p:nvSpPr>
          <p:cNvPr id="4" name="Subtítulo"/>
          <p:cNvSpPr txBox="1"/>
          <p:nvPr/>
        </p:nvSpPr>
        <p:spPr>
          <a:xfrm>
            <a:off x="548640" y="26974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Randoop (geração aleatória guiada por feedback) × jqwik (teste baseado em propriedades)</a:t>
            </a:r>
            <a:endParaRPr lang="en-US" sz="1600" dirty="0"/>
          </a:p>
        </p:txBody>
      </p:sp>
      <p:sp>
        <p:nvSpPr>
          <p:cNvPr id="5" name="Equipe"/>
          <p:cNvSpPr txBox="1"/>
          <p:nvPr/>
        </p:nvSpPr>
        <p:spPr>
          <a:xfrm>
            <a:off x="548640" y="3931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Eduardo Hoffmann · Lucas Mocelin · Fernando Kunst</a:t>
            </a:r>
            <a:endParaRPr lang="en-US" sz="1400" dirty="0"/>
          </a:p>
        </p:txBody>
      </p:sp>
      <p:sp>
        <p:nvSpPr>
          <p:cNvPr id="6" name="Disciplina"/>
          <p:cNvSpPr txBox="1"/>
          <p:nvPr/>
        </p:nvSpPr>
        <p:spPr>
          <a:xfrm>
            <a:off x="548640" y="427939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PUCRS · Escola Politécnica · 2026/I</a:t>
            </a:r>
            <a:endParaRPr lang="en-US" sz="1200" dirty="0"/>
          </a:p>
        </p:txBody>
      </p:sp>
      <p:sp>
        <p:nvSpPr>
          <p:cNvPr id="7" name="Painel visual"/>
          <p:cNvSpPr/>
          <p:nvPr/>
        </p:nvSpPr>
        <p:spPr>
          <a:xfrm>
            <a:off x="5760720" y="868680"/>
            <a:ext cx="2926080" cy="3383280"/>
          </a:xfrm>
          <a:prstGeom prst="roundRect">
            <a:avLst>
              <a:gd name="adj" fmla="val 4375"/>
            </a:avLst>
          </a:prstGeom>
          <a:solidFill>
            <a:srgbClr val="123A57"/>
          </a:solidFill>
          <a:ln w="6350">
            <a:solidFill>
              <a:srgbClr val="123A57"/>
            </a:solidFill>
            <a:prstDash val="solid"/>
          </a:ln>
        </p:spPr>
      </p:sp>
      <p:sp>
        <p:nvSpPr>
          <p:cNvPr id="8" name="Fração 1 (forma)"/>
          <p:cNvSpPr/>
          <p:nvPr/>
        </p:nvSpPr>
        <p:spPr>
          <a:xfrm>
            <a:off x="5943600" y="1234440"/>
            <a:ext cx="1143000" cy="502920"/>
          </a:xfrm>
          <a:prstGeom prst="roundRect">
            <a:avLst>
              <a:gd name="adj" fmla="val 32727"/>
            </a:avLst>
          </a:prstGeom>
          <a:solidFill>
            <a:srgbClr val="1F5A82"/>
          </a:solidFill>
          <a:ln w="6350">
            <a:solidFill>
              <a:srgbClr val="1F5A82"/>
            </a:solidFill>
            <a:prstDash val="solid"/>
          </a:ln>
        </p:spPr>
      </p:sp>
      <p:sp>
        <p:nvSpPr>
          <p:cNvPr id="9" name="Fração 1"/>
          <p:cNvSpPr txBox="1"/>
          <p:nvPr/>
        </p:nvSpPr>
        <p:spPr>
          <a:xfrm>
            <a:off x="5943600" y="123444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2/4</a:t>
            </a:r>
            <a:endParaRPr lang="en-US" sz="1800" dirty="0"/>
          </a:p>
        </p:txBody>
      </p:sp>
      <p:sp>
        <p:nvSpPr>
          <p:cNvPr id="10" name="Seta 1"/>
          <p:cNvSpPr txBox="1"/>
          <p:nvPr/>
        </p:nvSpPr>
        <p:spPr>
          <a:xfrm>
            <a:off x="7132320" y="123444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Fração 2 (forma)"/>
          <p:cNvSpPr/>
          <p:nvPr/>
        </p:nvSpPr>
        <p:spPr>
          <a:xfrm>
            <a:off x="5943600" y="2057400"/>
            <a:ext cx="1143000" cy="502920"/>
          </a:xfrm>
          <a:prstGeom prst="roundRect">
            <a:avLst>
              <a:gd name="adj" fmla="val 32727"/>
            </a:avLst>
          </a:prstGeom>
          <a:solidFill>
            <a:srgbClr val="1F5A82"/>
          </a:solidFill>
          <a:ln w="6350">
            <a:solidFill>
              <a:srgbClr val="1F5A82"/>
            </a:solidFill>
            <a:prstDash val="solid"/>
          </a:ln>
        </p:spPr>
      </p:sp>
      <p:sp>
        <p:nvSpPr>
          <p:cNvPr id="12" name="Fração 2"/>
          <p:cNvSpPr txBox="1"/>
          <p:nvPr/>
        </p:nvSpPr>
        <p:spPr>
          <a:xfrm>
            <a:off x="5943600" y="205740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3/6</a:t>
            </a:r>
            <a:endParaRPr lang="en-US" sz="1800" dirty="0"/>
          </a:p>
        </p:txBody>
      </p:sp>
      <p:sp>
        <p:nvSpPr>
          <p:cNvPr id="13" name="Seta 2"/>
          <p:cNvSpPr txBox="1"/>
          <p:nvPr/>
        </p:nvSpPr>
        <p:spPr>
          <a:xfrm>
            <a:off x="7132320" y="205740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Fração 3 (forma)"/>
          <p:cNvSpPr/>
          <p:nvPr/>
        </p:nvSpPr>
        <p:spPr>
          <a:xfrm>
            <a:off x="5943600" y="2880360"/>
            <a:ext cx="1143000" cy="502920"/>
          </a:xfrm>
          <a:prstGeom prst="roundRect">
            <a:avLst>
              <a:gd name="adj" fmla="val 32727"/>
            </a:avLst>
          </a:prstGeom>
          <a:solidFill>
            <a:srgbClr val="1F5A82"/>
          </a:solidFill>
          <a:ln w="6350">
            <a:solidFill>
              <a:srgbClr val="1F5A82"/>
            </a:solidFill>
            <a:prstDash val="solid"/>
          </a:ln>
        </p:spPr>
      </p:sp>
      <p:sp>
        <p:nvSpPr>
          <p:cNvPr id="15" name="Fração 3"/>
          <p:cNvSpPr txBox="1"/>
          <p:nvPr/>
        </p:nvSpPr>
        <p:spPr>
          <a:xfrm>
            <a:off x="5943600" y="288036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−4/−8</a:t>
            </a:r>
            <a:endParaRPr lang="en-US" sz="1800" dirty="0"/>
          </a:p>
        </p:txBody>
      </p:sp>
      <p:sp>
        <p:nvSpPr>
          <p:cNvPr id="16" name="Seta 3"/>
          <p:cNvSpPr txBox="1"/>
          <p:nvPr/>
        </p:nvSpPr>
        <p:spPr>
          <a:xfrm>
            <a:off x="7132320" y="288036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Círculo normalizado"/>
          <p:cNvSpPr/>
          <p:nvPr/>
        </p:nvSpPr>
        <p:spPr>
          <a:xfrm>
            <a:off x="7543800" y="1828800"/>
            <a:ext cx="960120" cy="96012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8" name="Fração normalizada"/>
          <p:cNvSpPr txBox="1"/>
          <p:nvPr/>
        </p:nvSpPr>
        <p:spPr>
          <a:xfrm>
            <a:off x="7543800" y="18288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1/2</a:t>
            </a:r>
            <a:endParaRPr lang="en-US" sz="2400" dirty="0"/>
          </a:p>
        </p:txBody>
      </p:sp>
      <p:sp>
        <p:nvSpPr>
          <p:cNvPr id="19" name="Legenda do painel"/>
          <p:cNvSpPr txBox="1"/>
          <p:nvPr/>
        </p:nvSpPr>
        <p:spPr>
          <a:xfrm>
            <a:off x="5943600" y="36118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Toda fração é normalizada: iguais por valor, iguais por representação.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ótulo da seção"/>
          <p:cNvSpPr txBox="1"/>
          <p:nvPr/>
        </p:nvSpPr>
        <p:spPr>
          <a:xfrm>
            <a:off x="457200" y="2468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</a:rPr>
              <a:t>PROBLEMA E TÉCNICAS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 kata: Fraction</a:t>
            </a:r>
            <a:endParaRPr lang="en-US" sz="3000" dirty="0"/>
          </a:p>
        </p:txBody>
      </p:sp>
      <p:sp>
        <p:nvSpPr>
          <p:cNvPr id="4" name="Invariante 1"/>
          <p:cNvSpPr/>
          <p:nvPr/>
        </p:nvSpPr>
        <p:spPr>
          <a:xfrm>
            <a:off x="457200" y="1371600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3">
                <a:alpha val="12000"/>
              </a:srgbClr>
            </a:outerShdw>
          </a:effectLst>
        </p:spPr>
      </p:sp>
      <p:sp>
        <p:nvSpPr>
          <p:cNvPr id="5" name="Selo 1 (forma)"/>
          <p:cNvSpPr/>
          <p:nvPr/>
        </p:nvSpPr>
        <p:spPr>
          <a:xfrm>
            <a:off x="640080" y="1572768"/>
            <a:ext cx="1280160" cy="457200"/>
          </a:xfrm>
          <a:prstGeom prst="roundRect">
            <a:avLst>
              <a:gd name="adj" fmla="val 36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6" name="Selo 1"/>
          <p:cNvSpPr txBox="1"/>
          <p:nvPr/>
        </p:nvSpPr>
        <p:spPr>
          <a:xfrm>
            <a:off x="640080" y="157276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 &gt; 0</a:t>
            </a:r>
            <a:endParaRPr lang="en-US" sz="1500" dirty="0"/>
          </a:p>
        </p:txBody>
      </p:sp>
      <p:sp>
        <p:nvSpPr>
          <p:cNvPr id="7" name="Descrição 1"/>
          <p:cNvSpPr txBox="1"/>
          <p:nvPr/>
        </p:nvSpPr>
        <p:spPr>
          <a:xfrm>
            <a:off x="2103120" y="13716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Denominador sempre positivo</a:t>
            </a:r>
            <a:endParaRPr lang="en-US" sz="1400" dirty="0"/>
          </a:p>
        </p:txBody>
      </p:sp>
      <p:sp>
        <p:nvSpPr>
          <p:cNvPr id="8" name="Invariante 2"/>
          <p:cNvSpPr/>
          <p:nvPr/>
        </p:nvSpPr>
        <p:spPr>
          <a:xfrm>
            <a:off x="457200" y="2377440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3">
                <a:alpha val="12000"/>
              </a:srgbClr>
            </a:outerShdw>
          </a:effectLst>
        </p:spPr>
      </p:sp>
      <p:sp>
        <p:nvSpPr>
          <p:cNvPr id="9" name="Selo 2 (forma)"/>
          <p:cNvSpPr/>
          <p:nvPr/>
        </p:nvSpPr>
        <p:spPr>
          <a:xfrm>
            <a:off x="640080" y="2578608"/>
            <a:ext cx="1280160" cy="457200"/>
          </a:xfrm>
          <a:prstGeom prst="roundRect">
            <a:avLst>
              <a:gd name="adj" fmla="val 36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0" name="Selo 2"/>
          <p:cNvSpPr txBox="1"/>
          <p:nvPr/>
        </p:nvSpPr>
        <p:spPr>
          <a:xfrm>
            <a:off x="640080" y="257860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mdc = 1</a:t>
            </a:r>
            <a:endParaRPr lang="en-US" sz="1500" dirty="0"/>
          </a:p>
        </p:txBody>
      </p:sp>
      <p:sp>
        <p:nvSpPr>
          <p:cNvPr id="11" name="Descrição 2"/>
          <p:cNvSpPr txBox="1"/>
          <p:nvPr/>
        </p:nvSpPr>
        <p:spPr>
          <a:xfrm>
            <a:off x="2103120" y="23774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Fração sempre irredutível</a:t>
            </a:r>
            <a:endParaRPr lang="en-US" sz="1400" dirty="0"/>
          </a:p>
        </p:txBody>
      </p:sp>
      <p:sp>
        <p:nvSpPr>
          <p:cNvPr id="12" name="Invariante 3"/>
          <p:cNvSpPr/>
          <p:nvPr/>
        </p:nvSpPr>
        <p:spPr>
          <a:xfrm>
            <a:off x="457200" y="3383280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3">
                <a:alpha val="12000"/>
              </a:srgbClr>
            </a:outerShdw>
          </a:effectLst>
        </p:spPr>
      </p:sp>
      <p:sp>
        <p:nvSpPr>
          <p:cNvPr id="13" name="Selo 3 (forma)"/>
          <p:cNvSpPr/>
          <p:nvPr/>
        </p:nvSpPr>
        <p:spPr>
          <a:xfrm>
            <a:off x="640080" y="3584448"/>
            <a:ext cx="1280160" cy="457200"/>
          </a:xfrm>
          <a:prstGeom prst="roundRect">
            <a:avLst>
              <a:gd name="adj" fmla="val 36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4" name="Selo 3"/>
          <p:cNvSpPr txBox="1"/>
          <p:nvPr/>
        </p:nvSpPr>
        <p:spPr>
          <a:xfrm>
            <a:off x="640080" y="358444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0 = 0/1</a:t>
            </a:r>
            <a:endParaRPr lang="en-US" sz="1500" dirty="0"/>
          </a:p>
        </p:txBody>
      </p:sp>
      <p:sp>
        <p:nvSpPr>
          <p:cNvPr id="15" name="Descrição 3"/>
          <p:cNvSpPr txBox="1"/>
          <p:nvPr/>
        </p:nvSpPr>
        <p:spPr>
          <a:xfrm>
            <a:off x="2103120" y="33832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Zero tem uma só representação</a:t>
            </a:r>
            <a:endParaRPr lang="en-US" sz="1400" dirty="0"/>
          </a:p>
        </p:txBody>
      </p:sp>
      <p:sp>
        <p:nvSpPr>
          <p:cNvPr id="16" name="Cartão operações"/>
          <p:cNvSpPr/>
          <p:nvPr/>
        </p:nvSpPr>
        <p:spPr>
          <a:xfrm>
            <a:off x="4754880" y="1371600"/>
            <a:ext cx="3931920" cy="2011680"/>
          </a:xfrm>
          <a:prstGeom prst="roundRect">
            <a:avLst>
              <a:gd name="adj" fmla="val 4545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3">
                <a:alpha val="12000"/>
              </a:srgbClr>
            </a:outerShdw>
          </a:effectLst>
        </p:spPr>
      </p:sp>
      <p:sp>
        <p:nvSpPr>
          <p:cNvPr id="17" name="Título operações"/>
          <p:cNvSpPr txBox="1"/>
          <p:nvPr/>
        </p:nvSpPr>
        <p:spPr>
          <a:xfrm>
            <a:off x="4937760" y="14813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Operações</a:t>
            </a:r>
            <a:endParaRPr lang="en-US" sz="1400" dirty="0"/>
          </a:p>
        </p:txBody>
      </p:sp>
      <p:sp>
        <p:nvSpPr>
          <p:cNvPr id="18" name="Operação of (forma)"/>
          <p:cNvSpPr/>
          <p:nvPr/>
        </p:nvSpPr>
        <p:spPr>
          <a:xfrm>
            <a:off x="4937760" y="1874520"/>
            <a:ext cx="109728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9" name="Operação of"/>
          <p:cNvSpPr txBox="1"/>
          <p:nvPr/>
        </p:nvSpPr>
        <p:spPr>
          <a:xfrm>
            <a:off x="4937760" y="18745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of</a:t>
            </a:r>
            <a:endParaRPr lang="en-US" sz="1100" dirty="0"/>
          </a:p>
        </p:txBody>
      </p:sp>
      <p:sp>
        <p:nvSpPr>
          <p:cNvPr id="20" name="Operação parse (forma)"/>
          <p:cNvSpPr/>
          <p:nvPr/>
        </p:nvSpPr>
        <p:spPr>
          <a:xfrm>
            <a:off x="6126480" y="1874520"/>
            <a:ext cx="109728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1" name="Operação parse"/>
          <p:cNvSpPr txBox="1"/>
          <p:nvPr/>
        </p:nvSpPr>
        <p:spPr>
          <a:xfrm>
            <a:off x="6126480" y="18745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parse</a:t>
            </a:r>
            <a:endParaRPr lang="en-US" sz="1100" dirty="0"/>
          </a:p>
        </p:txBody>
      </p:sp>
      <p:sp>
        <p:nvSpPr>
          <p:cNvPr id="22" name="Operação plus (forma)"/>
          <p:cNvSpPr/>
          <p:nvPr/>
        </p:nvSpPr>
        <p:spPr>
          <a:xfrm>
            <a:off x="7315200" y="1874520"/>
            <a:ext cx="109728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3" name="Operação plus"/>
          <p:cNvSpPr txBox="1"/>
          <p:nvPr/>
        </p:nvSpPr>
        <p:spPr>
          <a:xfrm>
            <a:off x="7315200" y="18745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plus</a:t>
            </a:r>
            <a:endParaRPr lang="en-US" sz="1100" dirty="0"/>
          </a:p>
        </p:txBody>
      </p:sp>
      <p:sp>
        <p:nvSpPr>
          <p:cNvPr id="24" name="Operação minus (forma)"/>
          <p:cNvSpPr/>
          <p:nvPr/>
        </p:nvSpPr>
        <p:spPr>
          <a:xfrm>
            <a:off x="4937760" y="2240280"/>
            <a:ext cx="109728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5" name="Operação minus"/>
          <p:cNvSpPr txBox="1"/>
          <p:nvPr/>
        </p:nvSpPr>
        <p:spPr>
          <a:xfrm>
            <a:off x="4937760" y="22402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minus</a:t>
            </a:r>
            <a:endParaRPr lang="en-US" sz="1100" dirty="0"/>
          </a:p>
        </p:txBody>
      </p:sp>
      <p:sp>
        <p:nvSpPr>
          <p:cNvPr id="26" name="Operação times (forma)"/>
          <p:cNvSpPr/>
          <p:nvPr/>
        </p:nvSpPr>
        <p:spPr>
          <a:xfrm>
            <a:off x="6126480" y="2240280"/>
            <a:ext cx="109728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7" name="Operação times"/>
          <p:cNvSpPr txBox="1"/>
          <p:nvPr/>
        </p:nvSpPr>
        <p:spPr>
          <a:xfrm>
            <a:off x="6126480" y="22402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times</a:t>
            </a:r>
            <a:endParaRPr lang="en-US" sz="1100" dirty="0"/>
          </a:p>
        </p:txBody>
      </p:sp>
      <p:sp>
        <p:nvSpPr>
          <p:cNvPr id="28" name="Operação dividedBy (forma)"/>
          <p:cNvSpPr/>
          <p:nvPr/>
        </p:nvSpPr>
        <p:spPr>
          <a:xfrm>
            <a:off x="7315200" y="2240280"/>
            <a:ext cx="109728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9" name="Operação dividedBy"/>
          <p:cNvSpPr txBox="1"/>
          <p:nvPr/>
        </p:nvSpPr>
        <p:spPr>
          <a:xfrm>
            <a:off x="7315200" y="22402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dividedBy</a:t>
            </a:r>
            <a:endParaRPr lang="en-US" sz="1100" dirty="0"/>
          </a:p>
        </p:txBody>
      </p:sp>
      <p:sp>
        <p:nvSpPr>
          <p:cNvPr id="30" name="Operação negate (forma)"/>
          <p:cNvSpPr/>
          <p:nvPr/>
        </p:nvSpPr>
        <p:spPr>
          <a:xfrm>
            <a:off x="4937760" y="2606040"/>
            <a:ext cx="109728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31" name="Operação negate"/>
          <p:cNvSpPr txBox="1"/>
          <p:nvPr/>
        </p:nvSpPr>
        <p:spPr>
          <a:xfrm>
            <a:off x="4937760" y="26060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negate</a:t>
            </a:r>
            <a:endParaRPr lang="en-US" sz="1100" dirty="0"/>
          </a:p>
        </p:txBody>
      </p:sp>
      <p:sp>
        <p:nvSpPr>
          <p:cNvPr id="32" name="Operação reciprocal (forma)"/>
          <p:cNvSpPr/>
          <p:nvPr/>
        </p:nvSpPr>
        <p:spPr>
          <a:xfrm>
            <a:off x="6126480" y="2606040"/>
            <a:ext cx="109728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33" name="Operação reciprocal"/>
          <p:cNvSpPr txBox="1"/>
          <p:nvPr/>
        </p:nvSpPr>
        <p:spPr>
          <a:xfrm>
            <a:off x="6126480" y="26060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reciprocal</a:t>
            </a:r>
            <a:endParaRPr lang="en-US" sz="1100" dirty="0"/>
          </a:p>
        </p:txBody>
      </p:sp>
      <p:sp>
        <p:nvSpPr>
          <p:cNvPr id="34" name="Operação abs (forma)"/>
          <p:cNvSpPr/>
          <p:nvPr/>
        </p:nvSpPr>
        <p:spPr>
          <a:xfrm>
            <a:off x="7315200" y="2606040"/>
            <a:ext cx="109728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35" name="Operação abs"/>
          <p:cNvSpPr txBox="1"/>
          <p:nvPr/>
        </p:nvSpPr>
        <p:spPr>
          <a:xfrm>
            <a:off x="7315200" y="26060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abs</a:t>
            </a:r>
            <a:endParaRPr lang="en-US" sz="1100" dirty="0"/>
          </a:p>
        </p:txBody>
      </p:sp>
      <p:sp>
        <p:nvSpPr>
          <p:cNvPr id="36" name="Operação signum (forma)"/>
          <p:cNvSpPr/>
          <p:nvPr/>
        </p:nvSpPr>
        <p:spPr>
          <a:xfrm>
            <a:off x="4937760" y="2971800"/>
            <a:ext cx="109728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37" name="Operação signum"/>
          <p:cNvSpPr txBox="1"/>
          <p:nvPr/>
        </p:nvSpPr>
        <p:spPr>
          <a:xfrm>
            <a:off x="4937760" y="29718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signum</a:t>
            </a:r>
            <a:endParaRPr lang="en-US" sz="1100" dirty="0"/>
          </a:p>
        </p:txBody>
      </p:sp>
      <p:sp>
        <p:nvSpPr>
          <p:cNvPr id="38" name="Operação compareTo (forma)"/>
          <p:cNvSpPr/>
          <p:nvPr/>
        </p:nvSpPr>
        <p:spPr>
          <a:xfrm>
            <a:off x="6126480" y="2971800"/>
            <a:ext cx="109728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39" name="Operação compareTo"/>
          <p:cNvSpPr txBox="1"/>
          <p:nvPr/>
        </p:nvSpPr>
        <p:spPr>
          <a:xfrm>
            <a:off x="6126480" y="29718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compareTo</a:t>
            </a:r>
            <a:endParaRPr lang="en-US" sz="1100" dirty="0"/>
          </a:p>
        </p:txBody>
      </p:sp>
      <p:sp>
        <p:nvSpPr>
          <p:cNvPr id="40" name="Operação equals (forma)"/>
          <p:cNvSpPr/>
          <p:nvPr/>
        </p:nvSpPr>
        <p:spPr>
          <a:xfrm>
            <a:off x="7315200" y="2971800"/>
            <a:ext cx="109728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1" name="Operação equals"/>
          <p:cNvSpPr txBox="1"/>
          <p:nvPr/>
        </p:nvSpPr>
        <p:spPr>
          <a:xfrm>
            <a:off x="7315200" y="29718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equals</a:t>
            </a:r>
            <a:endParaRPr lang="en-US" sz="1100" dirty="0"/>
          </a:p>
        </p:txBody>
      </p:sp>
      <p:sp>
        <p:nvSpPr>
          <p:cNvPr id="42" name="Destaque overflow (forma)"/>
          <p:cNvSpPr/>
          <p:nvPr/>
        </p:nvSpPr>
        <p:spPr>
          <a:xfrm>
            <a:off x="4754880" y="3566160"/>
            <a:ext cx="3931920" cy="731520"/>
          </a:xfrm>
          <a:prstGeom prst="roundRect">
            <a:avLst>
              <a:gd name="adj" fmla="val 12500"/>
            </a:avLst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43" name="Destaque overflow"/>
          <p:cNvSpPr txBox="1"/>
          <p:nvPr/>
        </p:nvSpPr>
        <p:spPr>
          <a:xfrm>
            <a:off x="4937760" y="35661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Overflow lança ArithmeticException, nunca resultado errado em silêncio</a:t>
            </a:r>
            <a:endParaRPr lang="en-US" sz="1400" dirty="0"/>
          </a:p>
        </p:txBody>
      </p:sp>
      <p:sp>
        <p:nvSpPr>
          <p:cNvPr id="44" name="Ferramentas"/>
          <p:cNvSpPr txBox="1"/>
          <p:nvPr/>
        </p:nvSpPr>
        <p:spPr>
          <a:xfrm>
            <a:off x="457200" y="44074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Java 17 · Maven · JUnit 5 · jqwik 1.9.3 · Randoop 4.3.4 · JaCoCo · GitHub Actions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ótulo da seção"/>
          <p:cNvSpPr txBox="1"/>
          <p:nvPr/>
        </p:nvSpPr>
        <p:spPr>
          <a:xfrm>
            <a:off x="457200" y="2468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</a:rPr>
              <a:t>PROBLEMA E TÉCNICAS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Duas técnicas, dois artigos</a:t>
            </a:r>
            <a:endParaRPr lang="en-US" sz="3000" dirty="0"/>
          </a:p>
        </p:txBody>
      </p:sp>
      <p:sp>
        <p:nvSpPr>
          <p:cNvPr id="4" name="Cartão Fink"/>
          <p:cNvSpPr/>
          <p:nvPr/>
        </p:nvSpPr>
        <p:spPr>
          <a:xfrm>
            <a:off x="457200" y="1325880"/>
            <a:ext cx="3657600" cy="251460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3">
                <a:alpha val="12000"/>
              </a:srgbClr>
            </a:outerShdw>
          </a:effectLst>
        </p:spPr>
      </p:sp>
      <p:sp>
        <p:nvSpPr>
          <p:cNvPr id="5" name="Cabeçalho Fink (forma)"/>
          <p:cNvSpPr/>
          <p:nvPr/>
        </p:nvSpPr>
        <p:spPr>
          <a:xfrm>
            <a:off x="457200" y="1325880"/>
            <a:ext cx="3657600" cy="731520"/>
          </a:xfrm>
          <a:prstGeom prst="roundRect">
            <a:avLst>
              <a:gd name="adj" fmla="val 12500"/>
            </a:avLst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6" name="Ano Fink"/>
          <p:cNvSpPr txBox="1"/>
          <p:nvPr/>
        </p:nvSpPr>
        <p:spPr>
          <a:xfrm>
            <a:off x="640080" y="13258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1997</a:t>
            </a:r>
            <a:endParaRPr lang="en-US" sz="3000" dirty="0"/>
          </a:p>
        </p:txBody>
      </p:sp>
      <p:sp>
        <p:nvSpPr>
          <p:cNvPr id="7" name="Autores Fink"/>
          <p:cNvSpPr txBox="1"/>
          <p:nvPr/>
        </p:nvSpPr>
        <p:spPr>
          <a:xfrm>
            <a:off x="1965960" y="132588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Fink e Bishop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Propriedades</a:t>
            </a:r>
            <a:endParaRPr lang="en-US" sz="1400" dirty="0"/>
          </a:p>
        </p:txBody>
      </p:sp>
      <p:sp>
        <p:nvSpPr>
          <p:cNvPr id="8" name="Texto Fink"/>
          <p:cNvSpPr txBox="1"/>
          <p:nvPr/>
        </p:nvSpPr>
        <p:spPr>
          <a:xfrm>
            <a:off x="640080" y="219456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Propriedade formal (TASPEC) como especificação; o programa é fatiado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Oráculo gerado da propriedade; cobertura por iterative contexts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Dados de teste escolhidos pelo testador</a:t>
            </a:r>
            <a:endParaRPr lang="en-US" sz="1200" dirty="0"/>
          </a:p>
        </p:txBody>
      </p:sp>
      <p:sp>
        <p:nvSpPr>
          <p:cNvPr id="9" name="Cartão Pacheco"/>
          <p:cNvSpPr/>
          <p:nvPr/>
        </p:nvSpPr>
        <p:spPr>
          <a:xfrm>
            <a:off x="5029200" y="1325880"/>
            <a:ext cx="3657600" cy="251460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3">
                <a:alpha val="12000"/>
              </a:srgbClr>
            </a:outerShdw>
          </a:effectLst>
        </p:spPr>
      </p:sp>
      <p:sp>
        <p:nvSpPr>
          <p:cNvPr id="10" name="Cabeçalho Pacheco (forma)"/>
          <p:cNvSpPr/>
          <p:nvPr/>
        </p:nvSpPr>
        <p:spPr>
          <a:xfrm>
            <a:off x="5029200" y="1325880"/>
            <a:ext cx="3657600" cy="73152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1" name="Ano Pacheco"/>
          <p:cNvSpPr txBox="1"/>
          <p:nvPr/>
        </p:nvSpPr>
        <p:spPr>
          <a:xfrm>
            <a:off x="5212080" y="13258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2007</a:t>
            </a:r>
            <a:endParaRPr lang="en-US" sz="3000" dirty="0"/>
          </a:p>
        </p:txBody>
      </p:sp>
      <p:sp>
        <p:nvSpPr>
          <p:cNvPr id="12" name="Autores Pacheco"/>
          <p:cNvSpPr txBox="1"/>
          <p:nvPr/>
        </p:nvSpPr>
        <p:spPr>
          <a:xfrm>
            <a:off x="6537960" y="132588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Pacheco et al.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Randoop</a:t>
            </a:r>
            <a:endParaRPr lang="en-US" sz="1400" dirty="0"/>
          </a:p>
        </p:txBody>
      </p:sp>
      <p:sp>
        <p:nvSpPr>
          <p:cNvPr id="13" name="Texto Pacheco"/>
          <p:cNvSpPr txBox="1"/>
          <p:nvPr/>
        </p:nvSpPr>
        <p:spPr>
          <a:xfrm>
            <a:off x="5212080" y="219456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Gera sequências de chamadas; o resultado de cada execução guia as próximas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Oráculo: contratos genéricos (equals, hashCode, toString, sem NPE)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Filtros: igualdade, nulos e exceções</a:t>
            </a:r>
            <a:endParaRPr lang="en-US" sz="1200" dirty="0"/>
          </a:p>
        </p:txBody>
      </p:sp>
      <p:sp>
        <p:nvSpPr>
          <p:cNvPr id="14" name="Círculo de comparação"/>
          <p:cNvSpPr/>
          <p:nvPr/>
        </p:nvSpPr>
        <p:spPr>
          <a:xfrm>
            <a:off x="4270248" y="2240280"/>
            <a:ext cx="603504" cy="603504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5" name="Símbolo de comparação"/>
          <p:cNvSpPr txBox="1"/>
          <p:nvPr/>
        </p:nvSpPr>
        <p:spPr>
          <a:xfrm>
            <a:off x="4270248" y="22402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×</a:t>
            </a:r>
            <a:endParaRPr lang="en-US" sz="2200" dirty="0"/>
          </a:p>
        </p:txBody>
      </p:sp>
      <p:sp>
        <p:nvSpPr>
          <p:cNvPr id="16" name="Faixa de atenção (forma)"/>
          <p:cNvSpPr/>
          <p:nvPr/>
        </p:nvSpPr>
        <p:spPr>
          <a:xfrm>
            <a:off x="457200" y="397764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0B1F33"/>
          </a:solidFill>
          <a:ln w="6350">
            <a:solidFill>
              <a:srgbClr val="0B1F33"/>
            </a:solidFill>
            <a:prstDash val="solid"/>
          </a:ln>
        </p:spPr>
      </p:sp>
      <p:sp>
        <p:nvSpPr>
          <p:cNvPr id="17" name="Faixa de atenção"/>
          <p:cNvSpPr txBox="1"/>
          <p:nvPr/>
        </p:nvSpPr>
        <p:spPr>
          <a:xfrm>
            <a:off x="640080" y="3977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Atenção: o jqwik não implementa a técnica de Fink e Bishop; herda a ideia de propriedade como especificação e oráculo. Baseline: 15 testes de exemplo.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ótulo da seção"/>
          <p:cNvSpPr txBox="1"/>
          <p:nvPr/>
        </p:nvSpPr>
        <p:spPr>
          <a:xfrm>
            <a:off x="457200" y="2468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</a:rPr>
              <a:t>APLICAÇÃO · TÉCNICA 1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Randoop: contratos como oráculo</a:t>
            </a:r>
            <a:endParaRPr lang="en-US" sz="3000" dirty="0"/>
          </a:p>
        </p:txBody>
      </p:sp>
      <p:sp>
        <p:nvSpPr>
          <p:cNvPr id="4" name="Etapa 1 (forma)"/>
          <p:cNvSpPr/>
          <p:nvPr/>
        </p:nvSpPr>
        <p:spPr>
          <a:xfrm>
            <a:off x="457200" y="1280160"/>
            <a:ext cx="1783080" cy="457200"/>
          </a:xfrm>
          <a:prstGeom prst="roundRect">
            <a:avLst>
              <a:gd name="adj" fmla="val 36000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5" name="Etapa 1"/>
          <p:cNvSpPr txBox="1"/>
          <p:nvPr/>
        </p:nvSpPr>
        <p:spPr>
          <a:xfrm>
            <a:off x="457200" y="1280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Gera sequência</a:t>
            </a:r>
            <a:endParaRPr lang="en-US" sz="1300" dirty="0"/>
          </a:p>
        </p:txBody>
      </p:sp>
      <p:sp>
        <p:nvSpPr>
          <p:cNvPr id="6" name="Seta 1"/>
          <p:cNvSpPr txBox="1"/>
          <p:nvPr/>
        </p:nvSpPr>
        <p:spPr>
          <a:xfrm>
            <a:off x="2240280" y="12801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→</a:t>
            </a:r>
            <a:endParaRPr lang="en-US" sz="1800" dirty="0"/>
          </a:p>
        </p:txBody>
      </p:sp>
      <p:sp>
        <p:nvSpPr>
          <p:cNvPr id="7" name="Etapa 2 (forma)"/>
          <p:cNvSpPr/>
          <p:nvPr/>
        </p:nvSpPr>
        <p:spPr>
          <a:xfrm>
            <a:off x="2606040" y="1280160"/>
            <a:ext cx="1783080" cy="457200"/>
          </a:xfrm>
          <a:prstGeom prst="roundRect">
            <a:avLst>
              <a:gd name="adj" fmla="val 36000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8" name="Etapa 2"/>
          <p:cNvSpPr txBox="1"/>
          <p:nvPr/>
        </p:nvSpPr>
        <p:spPr>
          <a:xfrm>
            <a:off x="2606040" y="1280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Executa</a:t>
            </a:r>
            <a:endParaRPr lang="en-US" sz="1300" dirty="0"/>
          </a:p>
        </p:txBody>
      </p:sp>
      <p:sp>
        <p:nvSpPr>
          <p:cNvPr id="9" name="Seta 2"/>
          <p:cNvSpPr txBox="1"/>
          <p:nvPr/>
        </p:nvSpPr>
        <p:spPr>
          <a:xfrm>
            <a:off x="4389120" y="12801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Etapa 3 (forma)"/>
          <p:cNvSpPr/>
          <p:nvPr/>
        </p:nvSpPr>
        <p:spPr>
          <a:xfrm>
            <a:off x="4754880" y="1280160"/>
            <a:ext cx="1783080" cy="457200"/>
          </a:xfrm>
          <a:prstGeom prst="roundRect">
            <a:avLst>
              <a:gd name="adj" fmla="val 36000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1" name="Etapa 3"/>
          <p:cNvSpPr txBox="1"/>
          <p:nvPr/>
        </p:nvSpPr>
        <p:spPr>
          <a:xfrm>
            <a:off x="4754880" y="1280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Confere contratos</a:t>
            </a:r>
            <a:endParaRPr lang="en-US" sz="1300" dirty="0"/>
          </a:p>
        </p:txBody>
      </p:sp>
      <p:sp>
        <p:nvSpPr>
          <p:cNvPr id="12" name="Seta 3"/>
          <p:cNvSpPr txBox="1"/>
          <p:nvPr/>
        </p:nvSpPr>
        <p:spPr>
          <a:xfrm>
            <a:off x="6537960" y="12801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Etapa 4 (forma)"/>
          <p:cNvSpPr/>
          <p:nvPr/>
        </p:nvSpPr>
        <p:spPr>
          <a:xfrm>
            <a:off x="6903720" y="1280160"/>
            <a:ext cx="1783080" cy="457200"/>
          </a:xfrm>
          <a:prstGeom prst="roundRect">
            <a:avLst>
              <a:gd name="adj" fmla="val 36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4" name="Etapa 4"/>
          <p:cNvSpPr txBox="1"/>
          <p:nvPr/>
        </p:nvSpPr>
        <p:spPr>
          <a:xfrm>
            <a:off x="6903720" y="1280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Realimenta</a:t>
            </a:r>
            <a:endParaRPr lang="en-US" sz="1300" dirty="0"/>
          </a:p>
        </p:txBody>
      </p:sp>
      <p:sp>
        <p:nvSpPr>
          <p:cNvPr id="15" name="Contrato 1"/>
          <p:cNvSpPr/>
          <p:nvPr/>
        </p:nvSpPr>
        <p:spPr>
          <a:xfrm>
            <a:off x="457200" y="1965960"/>
            <a:ext cx="4937760" cy="777240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3">
                <a:alpha val="12000"/>
              </a:srgbClr>
            </a:outerShdw>
          </a:effectLst>
        </p:spPr>
      </p:sp>
      <p:sp>
        <p:nvSpPr>
          <p:cNvPr id="16" name="Origem 1 (forma)"/>
          <p:cNvSpPr/>
          <p:nvPr/>
        </p:nvSpPr>
        <p:spPr>
          <a:xfrm>
            <a:off x="594360" y="2139696"/>
            <a:ext cx="1371600" cy="429768"/>
          </a:xfrm>
          <a:prstGeom prst="roundRect">
            <a:avLst>
              <a:gd name="adj" fmla="val 38298"/>
            </a:avLst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17" name="Origem 1"/>
          <p:cNvSpPr txBox="1"/>
          <p:nvPr/>
        </p:nvSpPr>
        <p:spPr>
          <a:xfrm>
            <a:off x="594360" y="2139696"/>
            <a:ext cx="1371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Artigo (Fig. 4)</a:t>
            </a:r>
            <a:endParaRPr lang="en-US" sz="1200" dirty="0"/>
          </a:p>
        </p:txBody>
      </p:sp>
      <p:sp>
        <p:nvSpPr>
          <p:cNvPr id="18" name="Texto contrato 1"/>
          <p:cNvSpPr txBox="1"/>
          <p:nvPr/>
        </p:nvSpPr>
        <p:spPr>
          <a:xfrm>
            <a:off x="2103120" y="19659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C1 equals reflexivo · C5 equals, hashCode e toString sem exceção · C6 sem NPE indevido</a:t>
            </a:r>
            <a:endParaRPr lang="en-US" sz="1150" dirty="0"/>
          </a:p>
        </p:txBody>
      </p:sp>
      <p:sp>
        <p:nvSpPr>
          <p:cNvPr id="19" name="Contrato 2"/>
          <p:cNvSpPr/>
          <p:nvPr/>
        </p:nvSpPr>
        <p:spPr>
          <a:xfrm>
            <a:off x="457200" y="2852928"/>
            <a:ext cx="4937760" cy="777240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3">
                <a:alpha val="12000"/>
              </a:srgbClr>
            </a:outerShdw>
          </a:effectLst>
        </p:spPr>
      </p:sp>
      <p:sp>
        <p:nvSpPr>
          <p:cNvPr id="20" name="Origem 2 (forma)"/>
          <p:cNvSpPr/>
          <p:nvPr/>
        </p:nvSpPr>
        <p:spPr>
          <a:xfrm>
            <a:off x="594360" y="3026664"/>
            <a:ext cx="1371600" cy="429768"/>
          </a:xfrm>
          <a:prstGeom prst="roundRect">
            <a:avLst>
              <a:gd name="adj" fmla="val 38298"/>
            </a:avLst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21" name="Origem 2"/>
          <p:cNvSpPr txBox="1"/>
          <p:nvPr/>
        </p:nvSpPr>
        <p:spPr>
          <a:xfrm>
            <a:off x="594360" y="3026664"/>
            <a:ext cx="1371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Randoop 4.3.4</a:t>
            </a:r>
            <a:endParaRPr lang="en-US" sz="1200" dirty="0"/>
          </a:p>
        </p:txBody>
      </p:sp>
      <p:sp>
        <p:nvSpPr>
          <p:cNvPr id="22" name="Texto contrato 2"/>
          <p:cNvSpPr txBox="1"/>
          <p:nvPr/>
        </p:nvSpPr>
        <p:spPr>
          <a:xfrm>
            <a:off x="2103120" y="285292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C2–C4: equals simétrico e transitivo, hashCode consistente · contratos de compareTo</a:t>
            </a:r>
            <a:endParaRPr lang="en-US" sz="1150" dirty="0"/>
          </a:p>
        </p:txBody>
      </p:sp>
      <p:sp>
        <p:nvSpPr>
          <p:cNvPr id="23" name="Contrato 3"/>
          <p:cNvSpPr/>
          <p:nvPr/>
        </p:nvSpPr>
        <p:spPr>
          <a:xfrm>
            <a:off x="457200" y="3739896"/>
            <a:ext cx="4937760" cy="777240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3">
                <a:alpha val="12000"/>
              </a:srgbClr>
            </a:outerShdw>
          </a:effectLst>
        </p:spPr>
      </p:sp>
      <p:sp>
        <p:nvSpPr>
          <p:cNvPr id="24" name="Origem 3 (forma)"/>
          <p:cNvSpPr/>
          <p:nvPr/>
        </p:nvSpPr>
        <p:spPr>
          <a:xfrm>
            <a:off x="594360" y="3913632"/>
            <a:ext cx="1371600" cy="429768"/>
          </a:xfrm>
          <a:prstGeom prst="roundRect">
            <a:avLst>
              <a:gd name="adj" fmla="val 38298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5" name="Origem 3"/>
          <p:cNvSpPr txBox="1"/>
          <p:nvPr/>
        </p:nvSpPr>
        <p:spPr>
          <a:xfrm>
            <a:off x="594360" y="3913632"/>
            <a:ext cx="1371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Nossos (JSON)</a:t>
            </a:r>
            <a:endParaRPr lang="en-US" sz="1200" dirty="0"/>
          </a:p>
        </p:txBody>
      </p:sp>
      <p:sp>
        <p:nvSpPr>
          <p:cNvPr id="26" name="Texto contrato 3"/>
          <p:cNvSpPr txBox="1"/>
          <p:nvPr/>
        </p:nvSpPr>
        <p:spPr>
          <a:xfrm>
            <a:off x="2103120" y="3739896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C7 denominador &gt; 0 · C8 irredutível · C9 compareTo ⇔ equals · C10 parse(toString()) = original</a:t>
            </a:r>
            <a:endParaRPr lang="en-US" sz="1150" dirty="0"/>
          </a:p>
        </p:txBody>
      </p:sp>
      <p:sp>
        <p:nvSpPr>
          <p:cNvPr id="27" name="Estatística 1467"/>
          <p:cNvSpPr/>
          <p:nvPr/>
        </p:nvSpPr>
        <p:spPr>
          <a:xfrm>
            <a:off x="5669280" y="1965960"/>
            <a:ext cx="3017520" cy="777240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3">
                <a:alpha val="12000"/>
              </a:srgbClr>
            </a:outerShdw>
          </a:effectLst>
        </p:spPr>
      </p:sp>
      <p:sp>
        <p:nvSpPr>
          <p:cNvPr id="28" name="Número 1467"/>
          <p:cNvSpPr txBox="1"/>
          <p:nvPr/>
        </p:nvSpPr>
        <p:spPr>
          <a:xfrm>
            <a:off x="5852160" y="196596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1.467</a:t>
            </a:r>
            <a:endParaRPr lang="en-US" sz="3000" dirty="0"/>
          </a:p>
        </p:txBody>
      </p:sp>
      <p:sp>
        <p:nvSpPr>
          <p:cNvPr id="29" name="Legenda 1467"/>
          <p:cNvSpPr txBox="1"/>
          <p:nvPr/>
        </p:nvSpPr>
        <p:spPr>
          <a:xfrm>
            <a:off x="7223760" y="196596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testes de regressão, 0 reveladores de erro</a:t>
            </a:r>
            <a:endParaRPr lang="en-US" sz="1100" dirty="0"/>
          </a:p>
        </p:txBody>
      </p:sp>
      <p:sp>
        <p:nvSpPr>
          <p:cNvPr id="30" name="Estatística 1500"/>
          <p:cNvSpPr/>
          <p:nvPr/>
        </p:nvSpPr>
        <p:spPr>
          <a:xfrm>
            <a:off x="5669280" y="2852928"/>
            <a:ext cx="3017520" cy="777240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3">
                <a:alpha val="12000"/>
              </a:srgbClr>
            </a:outerShdw>
          </a:effectLst>
        </p:spPr>
      </p:sp>
      <p:sp>
        <p:nvSpPr>
          <p:cNvPr id="31" name="Número 1500"/>
          <p:cNvSpPr txBox="1"/>
          <p:nvPr/>
        </p:nvSpPr>
        <p:spPr>
          <a:xfrm>
            <a:off x="5852160" y="2852928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1.500</a:t>
            </a:r>
            <a:endParaRPr lang="en-US" sz="2600" dirty="0"/>
          </a:p>
        </p:txBody>
      </p:sp>
      <p:sp>
        <p:nvSpPr>
          <p:cNvPr id="32" name="Legenda 1500"/>
          <p:cNvSpPr txBox="1"/>
          <p:nvPr/>
        </p:nvSpPr>
        <p:spPr>
          <a:xfrm>
            <a:off x="7223760" y="2852928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testes no total, 0 falhas (60 s, semente 42)</a:t>
            </a:r>
            <a:endParaRPr lang="en-US" sz="1100" dirty="0"/>
          </a:p>
        </p:txBody>
      </p:sp>
      <p:sp>
        <p:nvSpPr>
          <p:cNvPr id="33" name="Aviso literais (forma)"/>
          <p:cNvSpPr/>
          <p:nvPr/>
        </p:nvSpPr>
        <p:spPr>
          <a:xfrm>
            <a:off x="5669280" y="3739896"/>
            <a:ext cx="3017520" cy="777240"/>
          </a:xfrm>
          <a:prstGeom prst="roundRect">
            <a:avLst>
              <a:gd name="adj" fmla="val 11765"/>
            </a:avLst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34" name="Aviso literais"/>
          <p:cNvSpPr txBox="1"/>
          <p:nvPr/>
        </p:nvSpPr>
        <p:spPr>
          <a:xfrm>
            <a:off x="5806440" y="3739896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O conjunto padrão de primitivos é pequeno (−1, 0, 1): demos literais próprios, com MAX e MIN.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ótulo da seção"/>
          <p:cNvSpPr txBox="1"/>
          <p:nvPr/>
        </p:nvSpPr>
        <p:spPr>
          <a:xfrm>
            <a:off x="457200" y="2468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</a:rPr>
              <a:t>APLICAÇÃO · TÉCNICA 2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jqwik: propriedades do domínio</a:t>
            </a:r>
            <a:endParaRPr lang="en-US" sz="3000" dirty="0"/>
          </a:p>
        </p:txBody>
      </p:sp>
      <p:sp>
        <p:nvSpPr>
          <p:cNvPr id="4" name="Grupo 1"/>
          <p:cNvSpPr/>
          <p:nvPr/>
        </p:nvSpPr>
        <p:spPr>
          <a:xfrm>
            <a:off x="457200" y="1325880"/>
            <a:ext cx="4663440" cy="841248"/>
          </a:xfrm>
          <a:prstGeom prst="roundRect">
            <a:avLst>
              <a:gd name="adj" fmla="val 10870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3">
                <a:alpha val="12000"/>
              </a:srgbClr>
            </a:outerShdw>
          </a:effectLst>
        </p:spPr>
      </p:sp>
      <p:sp>
        <p:nvSpPr>
          <p:cNvPr id="5" name="Rótulo 1 (forma)"/>
          <p:cNvSpPr/>
          <p:nvPr/>
        </p:nvSpPr>
        <p:spPr>
          <a:xfrm>
            <a:off x="594360" y="1517904"/>
            <a:ext cx="1325880" cy="457200"/>
          </a:xfrm>
          <a:prstGeom prst="roundRect">
            <a:avLst>
              <a:gd name="adj" fmla="val 36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6" name="Rótulo 1"/>
          <p:cNvSpPr txBox="1"/>
          <p:nvPr/>
        </p:nvSpPr>
        <p:spPr>
          <a:xfrm>
            <a:off x="594360" y="1517904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Faixa pequena</a:t>
            </a:r>
            <a:endParaRPr lang="en-US" sz="1200" dirty="0"/>
          </a:p>
        </p:txBody>
      </p:sp>
      <p:sp>
        <p:nvSpPr>
          <p:cNvPr id="7" name="Texto grupo 1"/>
          <p:cNvSpPr txBox="1"/>
          <p:nvPr/>
        </p:nvSpPr>
        <p:spPr>
          <a:xfrm>
            <a:off x="2057400" y="1325880"/>
            <a:ext cx="2971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|n| ≤ 1000, 1 ≤ d ≤ 1000: P4–P11, álgebra sem overflow</a:t>
            </a:r>
            <a:endParaRPr lang="en-US" sz="1150" dirty="0"/>
          </a:p>
        </p:txBody>
      </p:sp>
      <p:sp>
        <p:nvSpPr>
          <p:cNvPr id="8" name="Grupo 2"/>
          <p:cNvSpPr/>
          <p:nvPr/>
        </p:nvSpPr>
        <p:spPr>
          <a:xfrm>
            <a:off x="457200" y="2286000"/>
            <a:ext cx="4663440" cy="841248"/>
          </a:xfrm>
          <a:prstGeom prst="roundRect">
            <a:avLst>
              <a:gd name="adj" fmla="val 10870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3">
                <a:alpha val="12000"/>
              </a:srgbClr>
            </a:outerShdw>
          </a:effectLst>
        </p:spPr>
      </p:sp>
      <p:sp>
        <p:nvSpPr>
          <p:cNvPr id="9" name="Rótulo 2 (forma)"/>
          <p:cNvSpPr/>
          <p:nvPr/>
        </p:nvSpPr>
        <p:spPr>
          <a:xfrm>
            <a:off x="594360" y="2478024"/>
            <a:ext cx="1325880" cy="457200"/>
          </a:xfrm>
          <a:prstGeom prst="roundRect">
            <a:avLst>
              <a:gd name="adj" fmla="val 36000"/>
            </a:avLst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10" name="Rótulo 2"/>
          <p:cNvSpPr txBox="1"/>
          <p:nvPr/>
        </p:nvSpPr>
        <p:spPr>
          <a:xfrm>
            <a:off x="594360" y="2478024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Faixa larga</a:t>
            </a:r>
            <a:endParaRPr lang="en-US" sz="1200" dirty="0"/>
          </a:p>
        </p:txBody>
      </p:sp>
      <p:sp>
        <p:nvSpPr>
          <p:cNvPr id="11" name="Texto grupo 2"/>
          <p:cNvSpPr txBox="1"/>
          <p:nvPr/>
        </p:nvSpPr>
        <p:spPr>
          <a:xfrm>
            <a:off x="2057400" y="2286000"/>
            <a:ext cx="2971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long completo e BigInteger de referência: P1, P10d, P13. Resultado exato ou ArithmeticException</a:t>
            </a:r>
            <a:endParaRPr lang="en-US" sz="1150" dirty="0"/>
          </a:p>
        </p:txBody>
      </p:sp>
      <p:sp>
        <p:nvSpPr>
          <p:cNvPr id="12" name="Grupo 3"/>
          <p:cNvSpPr/>
          <p:nvPr/>
        </p:nvSpPr>
        <p:spPr>
          <a:xfrm>
            <a:off x="457200" y="3246120"/>
            <a:ext cx="4663440" cy="841248"/>
          </a:xfrm>
          <a:prstGeom prst="roundRect">
            <a:avLst>
              <a:gd name="adj" fmla="val 10870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3">
                <a:alpha val="12000"/>
              </a:srgbClr>
            </a:outerShdw>
          </a:effectLst>
        </p:spPr>
      </p:sp>
      <p:sp>
        <p:nvSpPr>
          <p:cNvPr id="13" name="Rótulo 3 (forma)"/>
          <p:cNvSpPr/>
          <p:nvPr/>
        </p:nvSpPr>
        <p:spPr>
          <a:xfrm>
            <a:off x="594360" y="3438144"/>
            <a:ext cx="1325880" cy="457200"/>
          </a:xfrm>
          <a:prstGeom prst="roundRect">
            <a:avLst>
              <a:gd name="adj" fmla="val 36000"/>
            </a:avLst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14" name="Rótulo 3"/>
          <p:cNvSpPr txBox="1"/>
          <p:nvPr/>
        </p:nvSpPr>
        <p:spPr>
          <a:xfrm>
            <a:off x="594360" y="3438144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Exceções e texto</a:t>
            </a:r>
            <a:endParaRPr lang="en-US" sz="1200" dirty="0"/>
          </a:p>
        </p:txBody>
      </p:sp>
      <p:sp>
        <p:nvSpPr>
          <p:cNvPr id="15" name="Texto grupo 3"/>
          <p:cNvSpPr txBox="1"/>
          <p:nvPr/>
        </p:nvSpPr>
        <p:spPr>
          <a:xfrm>
            <a:off x="2057400" y="3246120"/>
            <a:ext cx="2971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P12 (÷ 0, of(n, 0)) e P14 (parse de texto arbitrário)</a:t>
            </a:r>
            <a:endParaRPr lang="en-US" sz="1150" dirty="0"/>
          </a:p>
        </p:txBody>
      </p:sp>
      <p:sp>
        <p:nvSpPr>
          <p:cNvPr id="16" name="Resumo"/>
          <p:cNvSpPr txBox="1"/>
          <p:nvPr/>
        </p:nvSpPr>
        <p:spPr>
          <a:xfrm>
            <a:off x="457200" y="42519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14 propriedades · 1000 tentativas cada · todas passaram</a:t>
            </a:r>
            <a:endParaRPr lang="en-US" sz="1200" dirty="0"/>
          </a:p>
        </p:txBody>
      </p:sp>
      <p:sp>
        <p:nvSpPr>
          <p:cNvPr id="17" name="Cartão gráfico"/>
          <p:cNvSpPr/>
          <p:nvPr/>
        </p:nvSpPr>
        <p:spPr>
          <a:xfrm>
            <a:off x="5394960" y="1325880"/>
            <a:ext cx="3291840" cy="3291840"/>
          </a:xfrm>
          <a:prstGeom prst="roundRect">
            <a:avLst>
              <a:gd name="adj" fmla="val 2778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3">
                <a:alpha val="12000"/>
              </a:srgbClr>
            </a:outerShdw>
          </a:effectLst>
        </p:spPr>
      </p:sp>
      <p:sp>
        <p:nvSpPr>
          <p:cNvPr id="18" name="Título gráfico"/>
          <p:cNvSpPr txBox="1"/>
          <p:nvPr/>
        </p:nvSpPr>
        <p:spPr>
          <a:xfrm>
            <a:off x="5532120" y="14356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P13: 3.948 operações verificadas</a:t>
            </a:r>
            <a:endParaRPr lang="en-US" sz="13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5623560" y="1737360"/>
          <a:ext cx="283464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Marcador teal"/>
          <p:cNvSpPr/>
          <p:nvPr/>
        </p:nvSpPr>
        <p:spPr>
          <a:xfrm>
            <a:off x="5623560" y="3749040"/>
            <a:ext cx="128016" cy="128016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1" name="Legenda teal"/>
          <p:cNvSpPr txBox="1"/>
          <p:nvPr/>
        </p:nvSpPr>
        <p:spPr>
          <a:xfrm>
            <a:off x="5852160" y="369417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86% sem overflow (3.409)</a:t>
            </a:r>
            <a:endParaRPr lang="en-US" sz="1100" dirty="0"/>
          </a:p>
        </p:txBody>
      </p:sp>
      <p:sp>
        <p:nvSpPr>
          <p:cNvPr id="22" name="Marcador âmbar"/>
          <p:cNvSpPr/>
          <p:nvPr/>
        </p:nvSpPr>
        <p:spPr>
          <a:xfrm>
            <a:off x="5623560" y="4005072"/>
            <a:ext cx="128016" cy="128016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23" name="Legenda âmbar"/>
          <p:cNvSpPr txBox="1"/>
          <p:nvPr/>
        </p:nvSpPr>
        <p:spPr>
          <a:xfrm>
            <a:off x="5852160" y="395020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14% ArithmeticException (539)</a:t>
            </a:r>
            <a:endParaRPr lang="en-US" sz="1100" dirty="0"/>
          </a:p>
        </p:txBody>
      </p:sp>
      <p:sp>
        <p:nvSpPr>
          <p:cNvPr id="24" name="Nota gráfico"/>
          <p:cNvSpPr txBox="1"/>
          <p:nvPr/>
        </p:nvSpPr>
        <p:spPr>
          <a:xfrm>
            <a:off x="5532120" y="42793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Nenhuma devolveu valor errado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ótulo da seção"/>
          <p:cNvSpPr txBox="1"/>
          <p:nvPr/>
        </p:nvSpPr>
        <p:spPr>
          <a:xfrm>
            <a:off x="457200" y="2468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</a:rPr>
              <a:t>RESULTADOS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 que cada técnica detectou</a:t>
            </a:r>
            <a:endParaRPr lang="en-US" sz="3000" dirty="0"/>
          </a:p>
        </p:txBody>
      </p:sp>
      <p:sp>
        <p:nvSpPr>
          <p:cNvPr id="4" name="Faixa baseline (forma)"/>
          <p:cNvSpPr/>
          <p:nvPr/>
        </p:nvSpPr>
        <p:spPr>
          <a:xfrm>
            <a:off x="457200" y="1280160"/>
            <a:ext cx="8229600" cy="475488"/>
          </a:xfrm>
          <a:prstGeom prst="roundRect">
            <a:avLst>
              <a:gd name="adj" fmla="val 19231"/>
            </a:avLst>
          </a:prstGeom>
          <a:solidFill>
            <a:srgbClr val="0B1F33"/>
          </a:solidFill>
          <a:ln w="6350">
            <a:solidFill>
              <a:srgbClr val="0B1F33"/>
            </a:solidFill>
            <a:prstDash val="solid"/>
          </a:ln>
        </p:spPr>
      </p:sp>
      <p:sp>
        <p:nvSpPr>
          <p:cNvPr id="5" name="Faixa baseline"/>
          <p:cNvSpPr txBox="1"/>
          <p:nvPr/>
        </p:nvSpPr>
        <p:spPr>
          <a:xfrm>
            <a:off x="640080" y="128016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Código correto: 15 exemplos + 18 propriedades + 1.467 testes do Randoop = 1.500 testes, 0 falhas</a:t>
            </a:r>
            <a:endParaRPr lang="en-US" sz="1300" dirty="0"/>
          </a:p>
        </p:txBody>
      </p:sp>
      <p:graphicFrame>
        <p:nvGraphicFramePr>
          <p:cNvPr id="7" name="Tabela de detecçã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01952"/>
          <a:ext cx="822960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1371600"/>
                <a:gridCol w="2011680"/>
                <a:gridCol w="146304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Mutação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9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Exemplos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9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jqwik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9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Randoop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96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1F33"/>
                          </a:solidFill>
                        </a:rPr>
                        <a:t>M1  sinal do denominador não normalizado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6B45"/>
                          </a:solidFill>
                        </a:rPr>
                        <a:t>sim (EX-01)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6B45"/>
                          </a:solidFill>
                        </a:rPr>
                        <a:t>sim (P1, P2, P3, P11)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6B45"/>
                          </a:solidFill>
                        </a:rPr>
                        <a:t>sim (18 testes)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3E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1F33"/>
                          </a:solidFill>
                        </a:rPr>
                        <a:t>M2  sem redução por mdc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6B45"/>
                          </a:solidFill>
                        </a:rPr>
                        <a:t>sim (4 testes)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6B45"/>
                          </a:solidFill>
                        </a:rPr>
                        <a:t>sim (P1, P2, P5, P9, P11)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6B45"/>
                          </a:solidFill>
                        </a:rPr>
                        <a:t>sim (16 testes)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3E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1F33"/>
                          </a:solidFill>
                        </a:rPr>
                        <a:t>M3  compareTo por multiplicação em long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A9362F"/>
                          </a:solidFill>
                        </a:rPr>
                        <a:t>não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6B45"/>
                          </a:solidFill>
                        </a:rPr>
                        <a:t>só P10d (faixa larga)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6B45"/>
                          </a:solidFill>
                        </a:rPr>
                        <a:t>sim (4 testes)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3E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1F33"/>
                          </a:solidFill>
                        </a:rPr>
                        <a:t>M4  overflow ignorado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6B45"/>
                          </a:solidFill>
                        </a:rPr>
                        <a:t>sim (EX-12)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6B45"/>
                          </a:solidFill>
                        </a:rPr>
                        <a:t>sim (P13)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A9362F"/>
                          </a:solidFill>
                        </a:rPr>
                        <a:t>não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1F33"/>
                          </a:solidFill>
                        </a:rPr>
                        <a:t>M5  hashCode só do numerador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A9362F"/>
                          </a:solidFill>
                        </a:rPr>
                        <a:t>não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A9362F"/>
                          </a:solidFill>
                        </a:rPr>
                        <a:t>não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A9362F"/>
                          </a:solidFill>
                        </a:rPr>
                        <a:t>não</a:t>
                      </a:r>
                      <a:endParaRPr lang="en-US" sz="1150" dirty="0"/>
                    </a:p>
                  </a:txBody>
                  <a:tcPr marL="91440" marR="91440" marT="18288" marB="18288" anchor="ctr">
                    <a:lnL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8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1"/>
                    </a:solidFill>
                  </a:tcPr>
                </a:tc>
              </a:tr>
            </a:tbl>
          </a:graphicData>
        </a:graphic>
      </p:graphicFrame>
      <p:sp>
        <p:nvSpPr>
          <p:cNvPr id="7" name="Nota resultados"/>
          <p:cNvSpPr txBox="1"/>
          <p:nvPr/>
        </p:nvSpPr>
        <p:spPr>
          <a:xfrm>
            <a:off x="457200" y="4434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M5 preserva o contrato (não é defeito). Sementes 1 a 3 do Randoop: M1 sempre detectado, M4 nunca.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ótulo da seção"/>
          <p:cNvSpPr txBox="1"/>
          <p:nvPr/>
        </p:nvSpPr>
        <p:spPr>
          <a:xfrm>
            <a:off x="457200" y="2468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</a:rPr>
              <a:t>DISCUSSÃO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Custo, exceções e ameaças</a:t>
            </a:r>
            <a:endParaRPr lang="en-US" sz="3000" dirty="0"/>
          </a:p>
        </p:txBody>
      </p:sp>
      <p:sp>
        <p:nvSpPr>
          <p:cNvPr id="4" name="Cartão Custo de especificação"/>
          <p:cNvSpPr/>
          <p:nvPr/>
        </p:nvSpPr>
        <p:spPr>
          <a:xfrm>
            <a:off x="457200" y="1325880"/>
            <a:ext cx="2560320" cy="2743200"/>
          </a:xfrm>
          <a:prstGeom prst="roundRect">
            <a:avLst>
              <a:gd name="adj" fmla="val 3571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3">
                <a:alpha val="12000"/>
              </a:srgbClr>
            </a:outerShdw>
          </a:effectLst>
        </p:spPr>
      </p:sp>
      <p:sp>
        <p:nvSpPr>
          <p:cNvPr id="5" name="Cabeçalho Custo de especificação (forma)"/>
          <p:cNvSpPr/>
          <p:nvPr/>
        </p:nvSpPr>
        <p:spPr>
          <a:xfrm>
            <a:off x="457200" y="1325880"/>
            <a:ext cx="256032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6" name="Título Custo de especificação"/>
          <p:cNvSpPr txBox="1"/>
          <p:nvPr/>
        </p:nvSpPr>
        <p:spPr>
          <a:xfrm>
            <a:off x="594360" y="1325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Custo de especificação</a:t>
            </a:r>
            <a:endParaRPr lang="en-US" sz="1400" dirty="0"/>
          </a:p>
        </p:txBody>
      </p:sp>
      <p:sp>
        <p:nvSpPr>
          <p:cNvPr id="7" name="Texto Custo de especificação"/>
          <p:cNvSpPr txBox="1"/>
          <p:nvPr/>
        </p:nvSpPr>
        <p:spPr>
          <a:xfrm>
            <a:off x="640080" y="214884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Randoop: 4 entradas JSON e literais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jqwik: 18 testes, faixas dos geradores e oráculo BigInteger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Barato e cego ao domínio × caro e preciso</a:t>
            </a:r>
            <a:endParaRPr lang="en-US" sz="1250" dirty="0"/>
          </a:p>
        </p:txBody>
      </p:sp>
      <p:sp>
        <p:nvSpPr>
          <p:cNvPr id="8" name="Cartão Filtro de exceções"/>
          <p:cNvSpPr/>
          <p:nvPr/>
        </p:nvSpPr>
        <p:spPr>
          <a:xfrm>
            <a:off x="3291840" y="1325880"/>
            <a:ext cx="2560320" cy="2743200"/>
          </a:xfrm>
          <a:prstGeom prst="roundRect">
            <a:avLst>
              <a:gd name="adj" fmla="val 3571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3">
                <a:alpha val="12000"/>
              </a:srgbClr>
            </a:outerShdw>
          </a:effectLst>
        </p:spPr>
      </p:sp>
      <p:sp>
        <p:nvSpPr>
          <p:cNvPr id="9" name="Cabeçalho Filtro de exceções (forma)"/>
          <p:cNvSpPr/>
          <p:nvPr/>
        </p:nvSpPr>
        <p:spPr>
          <a:xfrm>
            <a:off x="3291840" y="1325880"/>
            <a:ext cx="2560320" cy="640080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0" name="Título Filtro de exceções"/>
          <p:cNvSpPr txBox="1"/>
          <p:nvPr/>
        </p:nvSpPr>
        <p:spPr>
          <a:xfrm>
            <a:off x="3429000" y="1325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Filtro de exceções</a:t>
            </a:r>
            <a:endParaRPr lang="en-US" sz="1400" dirty="0"/>
          </a:p>
        </p:txBody>
      </p:sp>
      <p:sp>
        <p:nvSpPr>
          <p:cNvPr id="11" name="Texto Filtro de exceções"/>
          <p:cNvSpPr txBox="1"/>
          <p:nvPr/>
        </p:nvSpPr>
        <p:spPr>
          <a:xfrm>
            <a:off x="3474720" y="214884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÷ 0 e overflow lançam exceção por especificação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Pelo artigo, sequências com exceção não são estendidas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O experimento não isola essa causa</a:t>
            </a:r>
            <a:endParaRPr lang="en-US" sz="1250" dirty="0"/>
          </a:p>
        </p:txBody>
      </p:sp>
      <p:sp>
        <p:nvSpPr>
          <p:cNvPr id="12" name="Cartão Ameaças à validade"/>
          <p:cNvSpPr/>
          <p:nvPr/>
        </p:nvSpPr>
        <p:spPr>
          <a:xfrm>
            <a:off x="6126480" y="1325880"/>
            <a:ext cx="2560320" cy="2743200"/>
          </a:xfrm>
          <a:prstGeom prst="roundRect">
            <a:avLst>
              <a:gd name="adj" fmla="val 3571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3">
                <a:alpha val="12000"/>
              </a:srgbClr>
            </a:outerShdw>
          </a:effectLst>
        </p:spPr>
      </p:sp>
      <p:sp>
        <p:nvSpPr>
          <p:cNvPr id="13" name="Cabeçalho Ameaças à validade (forma)"/>
          <p:cNvSpPr/>
          <p:nvPr/>
        </p:nvSpPr>
        <p:spPr>
          <a:xfrm>
            <a:off x="6126480" y="1325880"/>
            <a:ext cx="2560320" cy="640080"/>
          </a:xfrm>
          <a:prstGeom prst="roundRect">
            <a:avLst>
              <a:gd name="adj" fmla="val 14286"/>
            </a:avLst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14" name="Título Ameaças à validade"/>
          <p:cNvSpPr txBox="1"/>
          <p:nvPr/>
        </p:nvSpPr>
        <p:spPr>
          <a:xfrm>
            <a:off x="6263640" y="1325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Ameaças à validade</a:t>
            </a:r>
            <a:endParaRPr lang="en-US" sz="1400" dirty="0"/>
          </a:p>
        </p:txBody>
      </p:sp>
      <p:sp>
        <p:nvSpPr>
          <p:cNvPr id="15" name="Texto Ameaças à validade"/>
          <p:cNvSpPr txBox="1"/>
          <p:nvPr/>
        </p:nvSpPr>
        <p:spPr>
          <a:xfrm>
            <a:off x="6309360" y="214884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5 mutações à mão, 4 com defeitos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Uma só classe, pequena e numérica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Randoop varia mesmo com a mesma semente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Propriedades escritas pela mesma equipe</a:t>
            </a:r>
            <a:endParaRPr lang="en-US" sz="1250" dirty="0"/>
          </a:p>
        </p:txBody>
      </p:sp>
      <p:sp>
        <p:nvSpPr>
          <p:cNvPr id="16" name="Síntese (forma)"/>
          <p:cNvSpPr/>
          <p:nvPr/>
        </p:nvSpPr>
        <p:spPr>
          <a:xfrm>
            <a:off x="457200" y="4206240"/>
            <a:ext cx="8229600" cy="411480"/>
          </a:xfrm>
          <a:prstGeom prst="roundRect">
            <a:avLst>
              <a:gd name="adj" fmla="val 22222"/>
            </a:avLst>
          </a:prstGeom>
          <a:solidFill>
            <a:srgbClr val="0B1F33"/>
          </a:solidFill>
          <a:ln w="6350">
            <a:solidFill>
              <a:srgbClr val="0B1F33"/>
            </a:solidFill>
            <a:prstDash val="solid"/>
          </a:ln>
        </p:spPr>
      </p:sp>
      <p:sp>
        <p:nvSpPr>
          <p:cNvPr id="17" name="Síntese"/>
          <p:cNvSpPr txBox="1"/>
          <p:nvPr/>
        </p:nvSpPr>
        <p:spPr>
          <a:xfrm>
            <a:off x="640080" y="42062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Nenhuma das duas técnicas cobre sozinha todos os defeitos.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ótulo da seção"/>
          <p:cNvSpPr txBox="1"/>
          <p:nvPr/>
        </p:nvSpPr>
        <p:spPr>
          <a:xfrm>
            <a:off x="457200" y="2468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</a:rPr>
              <a:t>CONCLUSÃO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Lições aprendidas</a:t>
            </a:r>
            <a:endParaRPr lang="en-US" sz="3000" dirty="0"/>
          </a:p>
        </p:txBody>
      </p:sp>
      <p:sp>
        <p:nvSpPr>
          <p:cNvPr id="4" name="Cartão lição 1"/>
          <p:cNvSpPr/>
          <p:nvPr/>
        </p:nvSpPr>
        <p:spPr>
          <a:xfrm>
            <a:off x="457200" y="1371600"/>
            <a:ext cx="2560320" cy="2514600"/>
          </a:xfrm>
          <a:prstGeom prst="roundRect">
            <a:avLst>
              <a:gd name="adj" fmla="val 4364"/>
            </a:avLst>
          </a:prstGeom>
          <a:solidFill>
            <a:srgbClr val="17496B"/>
          </a:solidFill>
          <a:ln w="6350">
            <a:solidFill>
              <a:srgbClr val="17496B"/>
            </a:solidFill>
            <a:prstDash val="solid"/>
          </a:ln>
        </p:spPr>
      </p:sp>
      <p:sp>
        <p:nvSpPr>
          <p:cNvPr id="5" name="Número 1"/>
          <p:cNvSpPr txBox="1"/>
          <p:nvPr/>
        </p:nvSpPr>
        <p:spPr>
          <a:xfrm>
            <a:off x="685800" y="15087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ítulo lição 1"/>
          <p:cNvSpPr txBox="1"/>
          <p:nvPr/>
        </p:nvSpPr>
        <p:spPr>
          <a:xfrm>
            <a:off x="685800" y="21945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Complementares</a:t>
            </a:r>
            <a:endParaRPr lang="en-US" sz="1600" dirty="0"/>
          </a:p>
        </p:txBody>
      </p:sp>
      <p:sp>
        <p:nvSpPr>
          <p:cNvPr id="7" name="Texto lição 1"/>
          <p:cNvSpPr txBox="1"/>
          <p:nvPr/>
        </p:nvSpPr>
        <p:spPr>
          <a:xfrm>
            <a:off x="685800" y="265176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Contratos cobrem objetos e sequências de chamadas; propriedades cobrem a álgebra e o overflow.</a:t>
            </a:r>
            <a:endParaRPr lang="en-US" sz="1250" dirty="0"/>
          </a:p>
        </p:txBody>
      </p:sp>
      <p:sp>
        <p:nvSpPr>
          <p:cNvPr id="8" name="Cartão lição 2"/>
          <p:cNvSpPr/>
          <p:nvPr/>
        </p:nvSpPr>
        <p:spPr>
          <a:xfrm>
            <a:off x="3291840" y="1371600"/>
            <a:ext cx="2560320" cy="2514600"/>
          </a:xfrm>
          <a:prstGeom prst="roundRect">
            <a:avLst>
              <a:gd name="adj" fmla="val 4364"/>
            </a:avLst>
          </a:prstGeom>
          <a:solidFill>
            <a:srgbClr val="17496B"/>
          </a:solidFill>
          <a:ln w="6350">
            <a:solidFill>
              <a:srgbClr val="17496B"/>
            </a:solidFill>
            <a:prstDash val="solid"/>
          </a:ln>
        </p:spPr>
      </p:sp>
      <p:sp>
        <p:nvSpPr>
          <p:cNvPr id="9" name="Número 2"/>
          <p:cNvSpPr txBox="1"/>
          <p:nvPr/>
        </p:nvSpPr>
        <p:spPr>
          <a:xfrm>
            <a:off x="3520440" y="15087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600" dirty="0"/>
          </a:p>
        </p:txBody>
      </p:sp>
      <p:sp>
        <p:nvSpPr>
          <p:cNvPr id="10" name="Título lição 2"/>
          <p:cNvSpPr txBox="1"/>
          <p:nvPr/>
        </p:nvSpPr>
        <p:spPr>
          <a:xfrm>
            <a:off x="3520440" y="21945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Entradas importam</a:t>
            </a:r>
            <a:endParaRPr lang="en-US" sz="1600" dirty="0"/>
          </a:p>
        </p:txBody>
      </p:sp>
      <p:sp>
        <p:nvSpPr>
          <p:cNvPr id="11" name="Texto lição 2"/>
          <p:cNvSpPr txBox="1"/>
          <p:nvPr/>
        </p:nvSpPr>
        <p:spPr>
          <a:xfrm>
            <a:off x="3520440" y="265176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Tanto quanto o oráculo: literais no Randoop, faixa dos geradores no jqwik.</a:t>
            </a:r>
            <a:endParaRPr lang="en-US" sz="1250" dirty="0"/>
          </a:p>
        </p:txBody>
      </p:sp>
      <p:sp>
        <p:nvSpPr>
          <p:cNvPr id="12" name="Cartão lição 3"/>
          <p:cNvSpPr/>
          <p:nvPr/>
        </p:nvSpPr>
        <p:spPr>
          <a:xfrm>
            <a:off x="6126480" y="1371600"/>
            <a:ext cx="2560320" cy="2514600"/>
          </a:xfrm>
          <a:prstGeom prst="roundRect">
            <a:avLst>
              <a:gd name="adj" fmla="val 4364"/>
            </a:avLst>
          </a:prstGeom>
          <a:solidFill>
            <a:srgbClr val="17496B"/>
          </a:solidFill>
          <a:ln w="6350">
            <a:solidFill>
              <a:srgbClr val="17496B"/>
            </a:solidFill>
            <a:prstDash val="solid"/>
          </a:ln>
        </p:spPr>
      </p:sp>
      <p:sp>
        <p:nvSpPr>
          <p:cNvPr id="13" name="Número 3"/>
          <p:cNvSpPr txBox="1"/>
          <p:nvPr/>
        </p:nvSpPr>
        <p:spPr>
          <a:xfrm>
            <a:off x="6355080" y="15087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600" dirty="0"/>
          </a:p>
        </p:txBody>
      </p:sp>
      <p:sp>
        <p:nvSpPr>
          <p:cNvPr id="14" name="Título lição 3"/>
          <p:cNvSpPr txBox="1"/>
          <p:nvPr/>
        </p:nvSpPr>
        <p:spPr>
          <a:xfrm>
            <a:off x="6355080" y="21945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Valide o oráculo</a:t>
            </a:r>
            <a:endParaRPr lang="en-US" sz="1600" dirty="0"/>
          </a:p>
        </p:txBody>
      </p:sp>
      <p:sp>
        <p:nvSpPr>
          <p:cNvPr id="15" name="Texto lição 3"/>
          <p:cNvSpPr txBox="1"/>
          <p:nvPr/>
        </p:nvSpPr>
        <p:spPr>
          <a:xfrm>
            <a:off x="6355080" y="265176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Com defeitos injetados: um contrato inócuo passa despercebido.</a:t>
            </a:r>
            <a:endParaRPr lang="en-US" sz="1250" dirty="0"/>
          </a:p>
        </p:txBody>
      </p:sp>
      <p:sp>
        <p:nvSpPr>
          <p:cNvPr id="16" name="Repositório"/>
          <p:cNvSpPr txBox="1"/>
          <p:nvPr/>
        </p:nvSpPr>
        <p:spPr>
          <a:xfrm>
            <a:off x="457200" y="4160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github.com/theeduardohoffmann/fraction-lab</a:t>
            </a:r>
            <a:endParaRPr lang="en-US" sz="1400" dirty="0"/>
          </a:p>
        </p:txBody>
      </p:sp>
      <p:sp>
        <p:nvSpPr>
          <p:cNvPr id="17" name="Agradecimento"/>
          <p:cNvSpPr txBox="1"/>
          <p:nvPr/>
        </p:nvSpPr>
        <p:spPr>
          <a:xfrm>
            <a:off x="5943600" y="4160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Obrigado!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raction Lab">
  <a:themeElements>
    <a:clrScheme name="Fraction Lab">
      <a:dk1>
        <a:srgbClr val="0B1F33"/>
      </a:dk1>
      <a:lt1>
        <a:srgbClr val="FFFFFF"/>
      </a:lt1>
      <a:dk2>
        <a:srgbClr val="17496B"/>
      </a:dk2>
      <a:lt2>
        <a:srgbClr val="EAF2F6"/>
      </a:lt2>
      <a:accent1>
        <a:srgbClr val="14B8A6"/>
      </a:accent1>
      <a:accent2>
        <a:srgbClr val="F59E0B"/>
      </a:accent2>
      <a:accent3>
        <a:srgbClr val="E5534B"/>
      </a:accent3>
      <a:accent4>
        <a:srgbClr val="2E9E6B"/>
      </a:accent4>
      <a:accent5>
        <a:srgbClr val="5B7C99"/>
      </a:accent5>
      <a:accent6>
        <a:srgbClr val="9CC3D9"/>
      </a:accent6>
      <a:hlink>
        <a:srgbClr val="14B8A6"/>
      </a:hlink>
      <a:folHlink>
        <a:srgbClr val="5B7C99"/>
      </a:folHlink>
    </a:clrScheme>
    <a:fontScheme name="Fraction Lab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Verificação de uma classe de frações: Randoop × jqwik</dc:title>
  <dc:subject>PptxGenJS Presentation</dc:subject>
  <dc:creator>Eduardo Hoffmann, Lucas Mocelin, Fernando Kunst</dc:creator>
  <cp:lastModifiedBy>Eduardo Hoffmann, Lucas Mocelin, Fernando Kunst</cp:lastModifiedBy>
  <cp:revision>1</cp:revision>
  <dcterms:created xsi:type="dcterms:W3CDTF">2026-10-05T20:30:22Z</dcterms:created>
  <dcterms:modified xsi:type="dcterms:W3CDTF">2026-10-05T20:30:22Z</dcterms:modified>
</cp:coreProperties>
</file>